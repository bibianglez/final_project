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0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 (years)</c:v>
                </c:pt>
              </c:strCache>
            </c:strRef>
          </c:tx>
          <c:spPr>
            <a:solidFill>
              <a:srgbClr val="E062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6272B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Nord-Est, RO</c:v>
                </c:pt>
                <c:pt idx="1">
                  <c:v>N. Great Plain, HU</c:v>
                </c:pt>
                <c:pt idx="2">
                  <c:v>Severoiztochen, BG</c:v>
                </c:pt>
                <c:pt idx="3">
                  <c:v>Šumadija &amp; W. Serbia, RS</c:v>
                </c:pt>
                <c:pt idx="4">
                  <c:v>N. Hungary, HU</c:v>
                </c:pt>
                <c:pt idx="5">
                  <c:v>Sev. tsentralen, BG</c:v>
                </c:pt>
                <c:pt idx="6">
                  <c:v>Mayotte, FR</c:v>
                </c:pt>
                <c:pt idx="7">
                  <c:v>Severozapaden, BG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75.5</c:v>
                </c:pt>
                <c:pt idx="1">
                  <c:v>75.5</c:v>
                </c:pt>
                <c:pt idx="2">
                  <c:v>75.400000000000006</c:v>
                </c:pt>
                <c:pt idx="3">
                  <c:v>75.3</c:v>
                </c:pt>
                <c:pt idx="4">
                  <c:v>75.099999999999994</c:v>
                </c:pt>
                <c:pt idx="5">
                  <c:v>74.900000000000006</c:v>
                </c:pt>
                <c:pt idx="6">
                  <c:v>74.5</c:v>
                </c:pt>
                <c:pt idx="7">
                  <c:v>73.900000000000006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8-43C7-A1AA-28B6DC1203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627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8"/>
          <c:min val="70"/>
        </c:scaling>
        <c:delete val="0"/>
        <c:axPos val="b"/>
        <c:majorGridlines>
          <c:spPr>
            <a:ln w="6350" cap="flat">
              <a:solidFill>
                <a:srgbClr val="E4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E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mortality rate</c:v>
                </c:pt>
              </c:strCache>
            </c:strRef>
          </c:tx>
          <c:spPr>
            <a:solidFill>
              <a:srgbClr val="1E8C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6272B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București-Ilfov, RO</c:v>
                </c:pt>
                <c:pt idx="1">
                  <c:v>Severoiztochen, BG</c:v>
                </c:pt>
                <c:pt idx="2">
                  <c:v>Nord-Vest, RO</c:v>
                </c:pt>
                <c:pt idx="3">
                  <c:v>Sev. tsentralen, BG</c:v>
                </c:pt>
                <c:pt idx="4">
                  <c:v>N. Hungary, HU</c:v>
                </c:pt>
                <c:pt idx="5">
                  <c:v>Yuzhen tsentralen, BG</c:v>
                </c:pt>
                <c:pt idx="6">
                  <c:v>Severozapaden, BG</c:v>
                </c:pt>
                <c:pt idx="7">
                  <c:v>Yugoiztochen, BG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286.89999999999998</c:v>
                </c:pt>
                <c:pt idx="1">
                  <c:v>289.39999999999998</c:v>
                </c:pt>
                <c:pt idx="2">
                  <c:v>303.39999999999998</c:v>
                </c:pt>
                <c:pt idx="3">
                  <c:v>304</c:v>
                </c:pt>
                <c:pt idx="4">
                  <c:v>312</c:v>
                </c:pt>
                <c:pt idx="5">
                  <c:v>325.3</c:v>
                </c:pt>
                <c:pt idx="6">
                  <c:v>325.60000000000002</c:v>
                </c:pt>
                <c:pt idx="7">
                  <c:v>331.9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3D-4A6C-BB32-67EF0DD14E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627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E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093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5F02-E670-F28E-F2D0-40047E10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BA6DB-1DEF-3686-B202-664ECA991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D6EC-2B98-B1DB-5C3B-114049754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9C960-21E9-4B30-A0C3-51241B039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35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1595E-8A0A-97DC-0545-9DF504DF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4E07B-F51B-3FAD-B699-639FF9C7D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170E5-7BD7-A9AF-E0FA-F9CFC6CA9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1D403-F640-0073-16CA-B40875DFC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05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6465-94AB-2F20-B7EF-0AF168B8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33A8C-0412-1B0C-AC60-445D507CB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8E6D5-E387-094C-336B-7BC51F3AD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3A647-2885-15F8-BEBE-BC479D865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60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E0623F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3291840" cy="3291840"/>
          </a:xfrm>
          <a:prstGeom prst="ellipse">
            <a:avLst/>
          </a:prstGeom>
          <a:solidFill>
            <a:srgbClr val="1E8C8A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1280160" y="4206240"/>
            <a:ext cx="2926080" cy="2926080"/>
          </a:xfrm>
          <a:prstGeom prst="ellipse">
            <a:avLst/>
          </a:prstGeom>
          <a:solidFill>
            <a:srgbClr val="D4A24C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40080" y="685800"/>
            <a:ext cx="566928" cy="566928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821863"/>
            <a:ext cx="294803" cy="294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98448" y="685800"/>
            <a:ext cx="566928" cy="566928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511" y="82186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18745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Industry, Pollution &amp;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Health in Europe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640080" y="41605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polluting industries really shorten lives? A region-by-region look using E-PRTR emissions and Eurostat health records across the NUTS2 regions of Europe.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NUTS2 REGIONS  ·  2007–2024  ·  30+ COUNTRIES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a quick primer: what is NUTS?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 </a:t>
            </a: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(Nomenclature of Territorial Units for Statistics) is the EU's official system for dividing member states into regions of comparable size — so a mortality rate in Poland can be fairly compared to one in Spain.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works at NUTS2 level </a:t>
            </a: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roughly the size of a Spanish autonomous community or a German Regierungsbezirk. Big enough for solid statistics, small enough to see real regional gaps.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349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NUTS2 regions cover the countries in this study.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41732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2627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040880" y="154533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0" y="2121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Germany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60920" y="2670048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4A4C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60920" y="27980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60920" y="32369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socio-economic zone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03820" y="3785616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03820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 2  —  used in this study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0382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~300 across Europe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4855464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4F4F2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046720" y="4983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5285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7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 / district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COME FROM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this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495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E-PRTR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087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Pollutant Release &amp; Transfer Register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raw datasets </a:t>
            </a: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facility, sector &amp; national level, split by air and water releases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– 2024, 30+ European countries, geolocated down to the individual industrial facility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155448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194950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Eurostat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31520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&amp; cause-specific mortality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62940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datasets </a:t>
            </a: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life expectancy at birth, and mortality rates across 15 disease categories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2024, reported for every NUTS2 region, by sex and age group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42519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06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9" name="Text 15"/>
          <p:cNvSpPr/>
          <p:nvPr/>
        </p:nvSpPr>
        <p:spPr>
          <a:xfrm>
            <a:off x="548640" y="4910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COMBINED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291840" y="42519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8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880K+</a:t>
            </a:r>
            <a:endParaRPr lang="en-US" sz="3800" dirty="0"/>
          </a:p>
        </p:txBody>
      </p:sp>
      <p:sp>
        <p:nvSpPr>
          <p:cNvPr id="21" name="Text 17"/>
          <p:cNvSpPr/>
          <p:nvPr/>
        </p:nvSpPr>
        <p:spPr>
          <a:xfrm>
            <a:off x="3291840" y="4910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ANALYSED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035040" y="42519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E06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800" dirty="0"/>
          </a:p>
        </p:txBody>
      </p:sp>
      <p:sp>
        <p:nvSpPr>
          <p:cNvPr id="23" name="Text 19"/>
          <p:cNvSpPr/>
          <p:nvPr/>
        </p:nvSpPr>
        <p:spPr>
          <a:xfrm>
            <a:off x="6035040" y="4910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NUTS2 REGIONS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8778240" y="42519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8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800" dirty="0"/>
          </a:p>
        </p:txBody>
      </p:sp>
      <p:sp>
        <p:nvSpPr>
          <p:cNvPr id="25" name="Text 21"/>
          <p:cNvSpPr/>
          <p:nvPr/>
        </p:nvSpPr>
        <p:spPr>
          <a:xfrm>
            <a:off x="8778240" y="4910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EMISSIONS DATA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cleaned, deduplicated records used in the analysis; several hundred thousand additional facility-level water release records feed the regional emissions view.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91640" y="248716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more industry a region has, the worse its life expectancy and health.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industrialised regions should show shorter lifespans and higher disease-related mortality than less industrial 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675120" y="2148840"/>
            <a:ext cx="640080" cy="640080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980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TWO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0" y="248716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more hazardous pollutants released, the more disease-related deaths.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41605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higher releases of toxic, cancer-linked, or respiratory-harming chemicals should show elevated mortality from related diseases.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JARGON IN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pollutants that matter for health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745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01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— respiratory &amp; cardiovascular risk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2459736"/>
            <a:ext cx="82296" cy="82296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24128" y="22951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dust (PM2.5 / PM10)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soot &amp; particles that lodge deep in lungs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118104"/>
            <a:ext cx="82296" cy="82296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24128" y="2953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NOx &amp; SOx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gases that irritate airways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024128" y="3611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arsenic, cadmium, chromium, nickel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434840"/>
            <a:ext cx="82296" cy="82296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024128" y="4270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PAHs &amp; benzene family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cancer risk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5093208"/>
            <a:ext cx="82296" cy="82296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1024128" y="49286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Asbestos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lung disease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5508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629400" y="1764792"/>
            <a:ext cx="457200" cy="457200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187452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18013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— disease &amp; toxicity risk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6629400" y="2459736"/>
            <a:ext cx="82296" cy="82296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6830568" y="22951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mercury, lead, arsenic, cadmium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629400" y="3118104"/>
            <a:ext cx="82296" cy="82296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6830568" y="2953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pesticides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DDT, lindane, aldrin — build up over time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629400" y="3776472"/>
            <a:ext cx="82296" cy="82296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6830568" y="3611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chemicals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PCBs &amp; dioxins, hormone disruptors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29400" y="4434840"/>
            <a:ext cx="82296" cy="82296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6830568" y="4270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Plastics additives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phthalates (DEHP), linked to health harm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29400" y="5093208"/>
            <a:ext cx="82296" cy="82296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/>
          <p:nvPr/>
        </p:nvSpPr>
        <p:spPr>
          <a:xfrm>
            <a:off x="6830568" y="49286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Solvents  </a:t>
            </a:r>
            <a:r>
              <a:rPr lang="en-US" sz="12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benzene, trichloroethylene — cancer-linked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industry distributed across Europe?</a:t>
            </a:r>
            <a:endParaRPr lang="en-US" sz="3000" dirty="0"/>
          </a:p>
        </p:txBody>
      </p:sp>
      <p:pic>
        <p:nvPicPr>
          <p:cNvPr id="4" name="Image 0" descr="cell7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903720" cy="47358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554480"/>
            <a:ext cx="457200" cy="457200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6642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21488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</a:t>
            </a: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reported air-release mass comes from the energy sector — almost entirely CO₂ from power generation.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635240" y="3337560"/>
            <a:ext cx="457200" cy="457200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344728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35240" y="3931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</a:t>
            </a: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reported water-release mass comes from the chemical industry.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7635240" y="50749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and water pollution are essentially two different stories — the sector that dominates one medium barely registers in the other.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E6A72-5CD3-C319-77DF-970786C0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1A04D5-F18F-A3B5-6358-85568315CB17}"/>
              </a:ext>
            </a:extLst>
          </p:cNvPr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OVERVIEW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2605C9-5FD5-1F48-BB06-38CBDD696F8C}"/>
              </a:ext>
            </a:extLst>
          </p:cNvPr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industry distributed across Europe?</a:t>
            </a:r>
            <a:endParaRPr lang="en-US" sz="3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D0B0354-9EFC-A744-B599-5CFC58616B50}"/>
              </a:ext>
            </a:extLst>
          </p:cNvPr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EDED193-95C3-4648-E909-11DFFF44F3C5}"/>
              </a:ext>
            </a:extLst>
          </p:cNvPr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C1385D8-4A77-89EA-2525-7034C98D1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212" y="1270996"/>
            <a:ext cx="9407762" cy="54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69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8860F-5F13-5629-F8BE-55BF9089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4338BC-937C-E0AC-DE63-E918643E7E94}"/>
              </a:ext>
            </a:extLst>
          </p:cNvPr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OVERVIEW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0527CA-F4C1-444F-9CB7-6666939B45DB}"/>
              </a:ext>
            </a:extLst>
          </p:cNvPr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</a:t>
            </a:r>
            <a:r>
              <a:rPr lang="en-US" sz="3000" b="1" u="sng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pollution</a:t>
            </a: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distributed across Europe?</a:t>
            </a:r>
            <a:endParaRPr lang="en-US" sz="3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FA2FF98-A630-A739-06B9-3DDDCDA847D4}"/>
              </a:ext>
            </a:extLst>
          </p:cNvPr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A1D58BA-1F0C-3D99-B727-8028CA282EDF}"/>
              </a:ext>
            </a:extLst>
          </p:cNvPr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D50AE4-3DB1-EB83-86DF-524D86A2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19" y="1267680"/>
            <a:ext cx="9144000" cy="53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1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HAPPENS &amp; WHAT'S RELEASED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~33,000 facilities, and the chemicals they report</a:t>
            </a:r>
            <a:endParaRPr lang="en-US" sz="3000" dirty="0"/>
          </a:p>
        </p:txBody>
      </p:sp>
      <p:pic>
        <p:nvPicPr>
          <p:cNvPr id="4" name="Image 0" descr="cell8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3246120" cy="32490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721277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density alone traces the outline of Europe — a good sanity check on the data.</a:t>
            </a:r>
            <a:endParaRPr lang="en-US" sz="1050" dirty="0"/>
          </a:p>
        </p:txBody>
      </p:sp>
      <p:pic>
        <p:nvPicPr>
          <p:cNvPr id="6" name="Image 1" descr="cell81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417320"/>
            <a:ext cx="7818120" cy="4372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77640" y="5863224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pollutant appears in both top-10 lists: air releases are dominated by combustion gases (CO₂, CO, NOx), water releases by process-chemistry indicators (chlorides, nitrogen, phosphorus).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NAMES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NUTS2 regions carrying the heaviest industrial load</a:t>
            </a:r>
            <a:endParaRPr lang="en-US" sz="3000" dirty="0"/>
          </a:p>
        </p:txBody>
      </p:sp>
      <p:pic>
        <p:nvPicPr>
          <p:cNvPr id="4" name="Image 0" descr="cell8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8" y="1371600"/>
            <a:ext cx="9966960" cy="4972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81477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industrial belts (Düsseldorf, Köln, Brandenburg), the Czech Severozápad coal basin, and Polish industrial regions top the air ranking. For water, Toscana (Italy) and several German regions lead.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ranking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SIDE OF THE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life expectancy is lowest — and disease burden highest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LIFE EXPECTANCY (2024)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91640"/>
          <a:ext cx="54406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DISEASE-LINKED MORTALITY (2023, per 100k)</a:t>
            </a:r>
            <a:endParaRPr lang="en-US" sz="115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691640"/>
          <a:ext cx="54406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causes of death across all regions: </a:t>
            </a:r>
            <a:r>
              <a:rPr lang="en-US" sz="115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ischaemic heart disease, stroke, heart attack, lung cancer and chronic respiratory disease — the exact conditions linked to air pollution exposure.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ranking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TWO SIDES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vs. health: a more complicated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763695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7276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regions with the heaviest industrial emissions (Germany, Czechia, Poland, Italy) are </a:t>
            </a:r>
            <a:r>
              <a:rPr lang="en-US" sz="1400" b="1" i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same regions with the lowest life expectancy or highest disease mortality (Bulgaria, Hungary, Romania, Serbia).</a:t>
            </a:r>
            <a:endParaRPr lang="en-US" sz="1400" dirty="0"/>
          </a:p>
        </p:txBody>
      </p:sp>
      <p:pic>
        <p:nvPicPr>
          <p:cNvPr id="8" name="Image 1" descr="cell89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97480"/>
            <a:ext cx="6126480" cy="35999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is Hypothesis 2 wrong?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903720" y="32004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 — it's untested, not disproven. Total release mass is dominated by bulk, low-toxicity substances (CO₂, chlorides). The truly hazardous pollutants are a tiny slice of that volume, so "more pollution" (by weight) is a weak stand-in for "more health risk."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903720" y="4709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test needs the hazardous-pollutant load matched directly to each region's health outcomes — controlling for income, healthcare access and urbanisation. That's exactly the next step.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bigger picture: two decades of change</a:t>
            </a:r>
            <a:endParaRPr lang="en-US" sz="3000" dirty="0"/>
          </a:p>
        </p:txBody>
      </p:sp>
      <p:pic>
        <p:nvPicPr>
          <p:cNvPr id="4" name="Image 0" descr="cell9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263640" cy="4380867"/>
          </a:xfrm>
          <a:prstGeom prst="rect">
            <a:avLst/>
          </a:prstGeom>
        </p:spPr>
      </p:pic>
      <p:pic>
        <p:nvPicPr>
          <p:cNvPr id="5" name="Image 1" descr="cell9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417320"/>
            <a:ext cx="4206240" cy="2080087"/>
          </a:xfrm>
          <a:prstGeom prst="rect">
            <a:avLst/>
          </a:prstGeom>
        </p:spPr>
      </p:pic>
      <p:pic>
        <p:nvPicPr>
          <p:cNvPr id="6" name="Image 2" descr="cell94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634567"/>
            <a:ext cx="4206240" cy="208008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58064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3"/>
          <p:cNvSpPr/>
          <p:nvPr/>
        </p:nvSpPr>
        <p:spPr>
          <a:xfrm>
            <a:off x="777240" y="59161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emissions fell 36–54% since 2007 while average life expectancy rose and mortality declined. </a:t>
            </a:r>
            <a:r>
              <a:rPr lang="en-US" sz="1200" i="1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Suggestive, not proof: part of the emissions drop reflects fewer reporting facilities, and health gains have many drivers beyond pollution.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Conclusions: revisiting our two hypotheses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3233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MORE INDUSTRY = WORSE HEALTH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supported by a simple regional comparison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life expectancy and mortality sit in lower-industry Eastern European regions, not the German/Czech/Polish industrial belts. Income, healthcare access and urbanisation likely dominate the picture.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3233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2940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MORE POLLUTANTS = MORE DISEASE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open — correctly specified, not yet tested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substances are under 0.3% of reported release mass, so total volume was too blunt a test. A region-by-region match of hazardous-pollutant load to disease mortality hasn't been run yet.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first pass maps the landscape and rules out the naive story — it doesn't yet give us a clean causal answer. That requires a properly merged, controlled analysis.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BC095-3053-0771-D89B-97BCBF61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92A38B-0D81-07F0-0D09-E3A870E8FB5F}"/>
              </a:ext>
            </a:extLst>
          </p:cNvPr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84D80F-D4E7-6D54-2AFB-DF21A62CA6B9}"/>
              </a:ext>
            </a:extLst>
          </p:cNvPr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</a:t>
            </a:r>
            <a:endParaRPr lang="en-US" sz="3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32E6FA-69B0-0179-43D1-A87BEC0B62E1}"/>
              </a:ext>
            </a:extLst>
          </p:cNvPr>
          <p:cNvSpPr/>
          <p:nvPr/>
        </p:nvSpPr>
        <p:spPr>
          <a:xfrm>
            <a:off x="3406140" y="1805940"/>
            <a:ext cx="5782586" cy="2467886"/>
          </a:xfrm>
          <a:prstGeom prst="roundRect">
            <a:avLst>
              <a:gd name="adj" fmla="val 3137"/>
            </a:avLst>
          </a:prstGeom>
          <a:solidFill>
            <a:srgbClr val="323339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04BF64-7FAE-D5FA-747D-0EC00176FB93}"/>
              </a:ext>
            </a:extLst>
          </p:cNvPr>
          <p:cNvSpPr/>
          <p:nvPr/>
        </p:nvSpPr>
        <p:spPr>
          <a:xfrm>
            <a:off x="3610155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E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POLLUTANTS = LOWER LIFE EXPECTANCY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816218B-F9D7-6268-BFC9-159095E8FD96}"/>
              </a:ext>
            </a:extLst>
          </p:cNvPr>
          <p:cNvSpPr/>
          <p:nvPr/>
        </p:nvSpPr>
        <p:spPr>
          <a:xfrm>
            <a:off x="3610154" y="2240280"/>
            <a:ext cx="53698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The amount is not what matters most , but the toxicity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1E76F3-B6E0-B057-842C-79722F211394}"/>
              </a:ext>
            </a:extLst>
          </p:cNvPr>
          <p:cNvSpPr/>
          <p:nvPr/>
        </p:nvSpPr>
        <p:spPr>
          <a:xfrm>
            <a:off x="3817189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toxicity does affect the life expectancy, though further analysis should be carried on to prevent other health affecting activities might affect, like </a:t>
            </a:r>
            <a:r>
              <a:rPr lang="en-US" sz="1200" dirty="0" err="1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smokig</a:t>
            </a:r>
            <a:r>
              <a:rPr lang="en-US" sz="1200" dirty="0">
                <a:solidFill>
                  <a:srgbClr val="C9C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alcoholism 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BE838A-B26A-3C5D-45AD-D997F657DDD8}"/>
              </a:ext>
            </a:extLst>
          </p:cNvPr>
          <p:cNvSpPr/>
          <p:nvPr/>
        </p:nvSpPr>
        <p:spPr>
          <a:xfrm>
            <a:off x="548640" y="4343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A96159-EB17-77B5-F35F-3951C9D7BE41}"/>
              </a:ext>
            </a:extLst>
          </p:cNvPr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5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FC4789-F7DA-5C8C-3138-A0D201527E85}"/>
              </a:ext>
            </a:extLst>
          </p:cNvPr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42525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6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78815" y="1088931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from exploration to prediction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C8A"/>
                </a:solidFill>
                <a:latin typeface="Cambria" pitchFamily="34" charset="0"/>
                <a:ea typeface="Cambria" pitchFamily="34" charset="-122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91693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for confounders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291693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income, healthcare access and urbanisation so any pollution effect isn't just picking up wealth differences.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7240" y="4242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10565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relationship properly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410565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time-lag analysis: pollution today may show up in health outcomes years later, not immediately.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4F4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77240" y="5431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29437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health risk by postal 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23560" y="529437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machine-learning model to output a local health-risk score for any postal code — the flagship next deliverable.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6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TO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this into an environmental-health consultancy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3233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1323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 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3236976"/>
            <a:ext cx="73152" cy="73152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5156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Ministries of health &amp; environment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1248" y="3858768"/>
            <a:ext cx="73152" cy="73152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51560" y="3685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regional development funds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4480560"/>
            <a:ext cx="73152" cy="73152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051560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urban planning agencies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5102352"/>
            <a:ext cx="73152" cy="73152"/>
          </a:xfrm>
          <a:prstGeom prst="ellipse">
            <a:avLst/>
          </a:prstGeom>
          <a:solidFill>
            <a:srgbClr val="E0623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051560" y="4928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ESG investors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25112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3233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4599432" y="2011680"/>
            <a:ext cx="502920" cy="502920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133" y="2132381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9943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sell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617720" y="3236976"/>
            <a:ext cx="73152" cy="73152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4828032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risk-scoring dashboard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617720" y="3858768"/>
            <a:ext cx="73152" cy="73152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4828032" y="3685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Postal-code health-risk API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617720" y="4480560"/>
            <a:ext cx="73152" cy="73152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4828032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policy-impact reports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17720" y="5102352"/>
            <a:ext cx="73152" cy="73152"/>
          </a:xfrm>
          <a:prstGeom prst="ellipse">
            <a:avLst/>
          </a:prstGeom>
          <a:solidFill>
            <a:srgbClr val="1E8C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4828032" y="4928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alerts on new hotspots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101584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32333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5"/>
          <p:cNvSpPr/>
          <p:nvPr/>
        </p:nvSpPr>
        <p:spPr>
          <a:xfrm>
            <a:off x="8375904" y="2011680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2132381"/>
            <a:ext cx="261518" cy="26151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75904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priced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394192" y="3236976"/>
            <a:ext cx="73152" cy="73152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28"/>
          <p:cNvSpPr/>
          <p:nvPr/>
        </p:nvSpPr>
        <p:spPr>
          <a:xfrm>
            <a:off x="8604504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tender / govt. contracts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394192" y="3858768"/>
            <a:ext cx="73152" cy="73152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0"/>
          <p:cNvSpPr/>
          <p:nvPr/>
        </p:nvSpPr>
        <p:spPr>
          <a:xfrm>
            <a:off x="8604504" y="3685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dashboard subscription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394192" y="4480560"/>
            <a:ext cx="73152" cy="73152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2"/>
          <p:cNvSpPr/>
          <p:nvPr/>
        </p:nvSpPr>
        <p:spPr>
          <a:xfrm>
            <a:off x="8604504" y="430682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Per-report consulting fees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394192" y="5102352"/>
            <a:ext cx="73152" cy="73152"/>
          </a:xfrm>
          <a:prstGeom prst="ellipse">
            <a:avLst/>
          </a:prstGeom>
          <a:solidFill>
            <a:srgbClr val="D4A24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4"/>
          <p:cNvSpPr/>
          <p:nvPr/>
        </p:nvSpPr>
        <p:spPr>
          <a:xfrm>
            <a:off x="8604504" y="49286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tier as a lead funnel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pipeline built for this project is the product: keep it live, keep it updated, and sell the insight — not just the report.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PresentationFormat>Panorámica</PresentationFormat>
  <Paragraphs>181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Industry, Pollution &amp; Public Health in Europe</dc:title>
  <dc:subject>PptxGenJS Presentation</dc:subject>
  <dc:creator>Data Team</dc:creator>
  <cp:lastModifiedBy>Moisés Guerrero</cp:lastModifiedBy>
  <cp:revision>3</cp:revision>
  <dcterms:created xsi:type="dcterms:W3CDTF">2026-07-03T08:45:45Z</dcterms:created>
  <dcterms:modified xsi:type="dcterms:W3CDTF">2026-07-03T09:36:37Z</dcterms:modified>
</cp:coreProperties>
</file>